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F7D424B-6DBA-450C-8276-8B24AAA895BC}">
          <p14:sldIdLst>
            <p14:sldId id="256"/>
            <p14:sldId id="257"/>
            <p14:sldId id="258"/>
            <p14:sldId id="260"/>
            <p14:sldId id="259"/>
            <p14:sldId id="262"/>
            <p14:sldId id="263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27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254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50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6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78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38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76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0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55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34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5883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640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8978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814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244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832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DD6D8-36D7-46FA-B612-9121B105A160}" type="datetimeFigureOut">
              <a:rPr lang="ru-RU" smtClean="0"/>
              <a:t>17.05.2020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90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3508" y="192506"/>
            <a:ext cx="9497817" cy="1459830"/>
          </a:xfrm>
        </p:spPr>
        <p:txBody>
          <a:bodyPr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Математическая модель эпидемии </a:t>
            </a:r>
            <a:r>
              <a:rPr lang="ru-RU" sz="4000" dirty="0" err="1" smtClean="0">
                <a:solidFill>
                  <a:schemeClr val="tx1"/>
                </a:solidFill>
              </a:rPr>
              <a:t>коронавируса</a:t>
            </a:r>
            <a:r>
              <a:rPr lang="ru-RU" sz="4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Авторы:</a:t>
            </a:r>
          </a:p>
          <a:p>
            <a:r>
              <a:rPr lang="ru-RU" sz="2800" dirty="0" err="1" smtClean="0"/>
              <a:t>Шашенко</a:t>
            </a:r>
            <a:r>
              <a:rPr lang="ru-RU" sz="2800" dirty="0" smtClean="0"/>
              <a:t> Родион</a:t>
            </a:r>
          </a:p>
          <a:p>
            <a:r>
              <a:rPr lang="ru-RU" sz="2800" dirty="0" smtClean="0"/>
              <a:t>Шумейко Александр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8789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цели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Реализация программы для построения </a:t>
            </a:r>
            <a:r>
              <a:rPr lang="en-US" sz="2800" dirty="0" smtClean="0"/>
              <a:t>SIR- </a:t>
            </a:r>
            <a:r>
              <a:rPr lang="ru-RU" sz="2800" dirty="0" smtClean="0"/>
              <a:t>и </a:t>
            </a:r>
            <a:r>
              <a:rPr lang="en-US" sz="2800" dirty="0" smtClean="0"/>
              <a:t>SEIR-</a:t>
            </a:r>
            <a:r>
              <a:rPr lang="ru-RU" sz="2800" dirty="0" smtClean="0"/>
              <a:t>модели</a:t>
            </a:r>
          </a:p>
          <a:p>
            <a:r>
              <a:rPr lang="ru-RU" sz="2800" dirty="0" smtClean="0"/>
              <a:t>Получение </a:t>
            </a:r>
            <a:r>
              <a:rPr lang="en-US" sz="2800" dirty="0" smtClean="0"/>
              <a:t>SIR- </a:t>
            </a:r>
            <a:r>
              <a:rPr lang="ru-RU" sz="2800" dirty="0" smtClean="0"/>
              <a:t>и</a:t>
            </a:r>
            <a:r>
              <a:rPr lang="en-US" sz="2800" dirty="0" smtClean="0"/>
              <a:t> SEIR-</a:t>
            </a:r>
            <a:r>
              <a:rPr lang="ru-RU" sz="2800" dirty="0" smtClean="0"/>
              <a:t>моделей для разных стран</a:t>
            </a:r>
          </a:p>
          <a:p>
            <a:r>
              <a:rPr lang="ru-RU" sz="2800" dirty="0" smtClean="0"/>
              <a:t>Попытки прогнозирования поведения эпидемии в разных странах</a:t>
            </a:r>
          </a:p>
        </p:txBody>
      </p:sp>
    </p:spTree>
    <p:extLst>
      <p:ext uri="{BB962C8B-B14F-4D97-AF65-F5344CB8AC3E}">
        <p14:creationId xmlns:p14="http://schemas.microsoft.com/office/powerpoint/2010/main" val="184436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Разделение обязанностей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643149"/>
              </p:ext>
            </p:extLst>
          </p:nvPr>
        </p:nvGraphicFramePr>
        <p:xfrm>
          <a:off x="677861" y="2160586"/>
          <a:ext cx="9075738" cy="3560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7869"/>
                <a:gridCol w="4537869"/>
              </a:tblGrid>
              <a:tr h="729661"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Шашенко</a:t>
                      </a:r>
                      <a:r>
                        <a:rPr lang="ru-RU" sz="2400" dirty="0" smtClean="0"/>
                        <a:t> Родион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Шумейко Александр</a:t>
                      </a:r>
                      <a:endParaRPr lang="ru-RU" sz="2400" dirty="0"/>
                    </a:p>
                  </a:txBody>
                  <a:tcPr/>
                </a:tc>
              </a:tr>
              <a:tr h="74858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Математическая</a:t>
                      </a:r>
                      <a:r>
                        <a:rPr lang="ru-RU" sz="2400" baseline="0" dirty="0" smtClean="0"/>
                        <a:t> часть работы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Программная часть</a:t>
                      </a:r>
                      <a:r>
                        <a:rPr lang="ru-RU" sz="2400" baseline="0" dirty="0" smtClean="0"/>
                        <a:t> работы</a:t>
                      </a:r>
                      <a:endParaRPr lang="ru-RU" sz="2400" dirty="0" smtClean="0"/>
                    </a:p>
                  </a:txBody>
                  <a:tcPr/>
                </a:tc>
              </a:tr>
              <a:tr h="74858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Тестирование программного обеспечения работы</a:t>
                      </a:r>
                      <a:endParaRPr lang="ru-RU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Организация </a:t>
                      </a:r>
                      <a:r>
                        <a:rPr lang="ru-RU" sz="2400" baseline="0" dirty="0" smtClean="0"/>
                        <a:t>процесса работы</a:t>
                      </a:r>
                      <a:endParaRPr lang="ru-RU" sz="2400" dirty="0" smtClean="0"/>
                    </a:p>
                  </a:txBody>
                  <a:tcPr/>
                </a:tc>
              </a:tr>
              <a:tr h="1259414"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Аналитическая часть</a:t>
                      </a:r>
                      <a:r>
                        <a:rPr lang="ru-RU" sz="2400" baseline="0" dirty="0" smtClean="0"/>
                        <a:t> работы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30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Аналитическая часть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Анализ и выбор алгоритмов для реализации моделей</a:t>
            </a:r>
          </a:p>
          <a:p>
            <a:r>
              <a:rPr lang="ru-RU" sz="2400" dirty="0" smtClean="0"/>
              <a:t>Анализ полученных результатов</a:t>
            </a:r>
          </a:p>
          <a:p>
            <a:r>
              <a:rPr lang="ru-RU" sz="2400" dirty="0" smtClean="0"/>
              <a:t>Вывод общих закономерностей</a:t>
            </a:r>
          </a:p>
        </p:txBody>
      </p:sp>
    </p:spTree>
    <p:extLst>
      <p:ext uri="{BB962C8B-B14F-4D97-AF65-F5344CB8AC3E}">
        <p14:creationId xmlns:p14="http://schemas.microsoft.com/office/powerpoint/2010/main" val="233978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Математическая часть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Получение формул</a:t>
            </a:r>
          </a:p>
          <a:p>
            <a:r>
              <a:rPr lang="ru-RU" sz="2400" dirty="0" smtClean="0"/>
              <a:t>Выбор математических методов для решения возникших проблем</a:t>
            </a:r>
          </a:p>
          <a:p>
            <a:r>
              <a:rPr lang="ru-RU" sz="2400" dirty="0" smtClean="0"/>
              <a:t>Презентация математической области работы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8516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программного обеспечения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Тестирование программ</a:t>
            </a:r>
          </a:p>
          <a:p>
            <a:r>
              <a:rPr lang="ru-RU" sz="2400" dirty="0" smtClean="0"/>
              <a:t>Отлов ошибок в данных, выводимых программами</a:t>
            </a:r>
          </a:p>
          <a:p>
            <a:r>
              <a:rPr lang="ru-RU" sz="2400" dirty="0" smtClean="0"/>
              <a:t>Отлов ошибок в работе программ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2474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ru-RU" dirty="0"/>
              <a:t>Организация процесса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Разделение </a:t>
            </a:r>
            <a:r>
              <a:rPr lang="ru-RU" sz="2400" dirty="0" smtClean="0"/>
              <a:t>работы на подзадачи</a:t>
            </a:r>
          </a:p>
          <a:p>
            <a:r>
              <a:rPr lang="ru-RU" sz="2400" dirty="0" smtClean="0"/>
              <a:t>Распределение обязанностей</a:t>
            </a:r>
          </a:p>
          <a:p>
            <a:r>
              <a:rPr lang="ru-RU" sz="2400" dirty="0" smtClean="0"/>
              <a:t>Контроль качества работы</a:t>
            </a:r>
          </a:p>
        </p:txBody>
      </p:sp>
    </p:spTree>
    <p:extLst>
      <p:ext uri="{BB962C8B-B14F-4D97-AF65-F5344CB8AC3E}">
        <p14:creationId xmlns:p14="http://schemas.microsoft.com/office/powerpoint/2010/main" val="40707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ru-RU" dirty="0"/>
              <a:t>Программная часть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Реализация программ для автоматического расчёта моделей</a:t>
            </a:r>
          </a:p>
          <a:p>
            <a:r>
              <a:rPr lang="ru-RU" sz="2400" dirty="0" smtClean="0"/>
              <a:t>Выбор наилучших алгоритмов для реализации программ</a:t>
            </a:r>
          </a:p>
          <a:p>
            <a:r>
              <a:rPr lang="ru-RU" sz="2400" dirty="0"/>
              <a:t>Презентация </a:t>
            </a:r>
            <a:r>
              <a:rPr lang="ru-RU" sz="2400" dirty="0" smtClean="0"/>
              <a:t>программной области работы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18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4379"/>
            <a:ext cx="8596668" cy="1320800"/>
          </a:xfrm>
        </p:spPr>
        <p:txBody>
          <a:bodyPr/>
          <a:lstStyle/>
          <a:p>
            <a:r>
              <a:rPr lang="ru-RU" dirty="0" smtClean="0"/>
              <a:t>Программная область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7383" y="1149936"/>
            <a:ext cx="8596668" cy="3880773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В ходе работы был сформирован каталог с ключевыми директориями.</a:t>
            </a:r>
            <a:endParaRPr lang="ru-RU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 smtClean="0"/>
              <a:t>DATA</a:t>
            </a:r>
          </a:p>
          <a:p>
            <a:pPr marL="857250" lvl="2" indent="0">
              <a:buNone/>
            </a:pPr>
            <a:r>
              <a:rPr lang="ru-RU" dirty="0" smtClean="0"/>
              <a:t>Содержит </a:t>
            </a:r>
            <a:r>
              <a:rPr lang="en-US" dirty="0" smtClean="0"/>
              <a:t>.csv</a:t>
            </a:r>
            <a:r>
              <a:rPr lang="ru-RU" dirty="0" smtClean="0"/>
              <a:t> файлы с информацией о заражённых во всех странах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 smtClean="0"/>
              <a:t>MODEL</a:t>
            </a:r>
            <a:endParaRPr lang="ru-RU" sz="1800" dirty="0" smtClean="0"/>
          </a:p>
          <a:p>
            <a:pPr marL="857250" lvl="2" indent="0">
              <a:buNone/>
            </a:pPr>
            <a:r>
              <a:rPr lang="ru-RU" dirty="0" smtClean="0"/>
              <a:t>Содержит результаты работы программы для моделирования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 smtClean="0"/>
              <a:t>PROGRAM</a:t>
            </a:r>
            <a:endParaRPr lang="ru-RU" sz="1800" dirty="0" smtClean="0"/>
          </a:p>
          <a:p>
            <a:pPr marL="857250" lvl="2" indent="0">
              <a:buNone/>
            </a:pPr>
            <a:r>
              <a:rPr lang="ru-RU" dirty="0" smtClean="0"/>
              <a:t>Содержит программы для моделирования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5030709"/>
            <a:ext cx="8091555" cy="105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5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08548"/>
            <a:ext cx="8596668" cy="834189"/>
          </a:xfrm>
        </p:spPr>
        <p:txBody>
          <a:bodyPr/>
          <a:lstStyle/>
          <a:p>
            <a:r>
              <a:rPr lang="ru-RU" dirty="0" smtClean="0"/>
              <a:t>Директория </a:t>
            </a:r>
            <a:r>
              <a:rPr lang="en-US" dirty="0" smtClean="0"/>
              <a:t>DATA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42737"/>
            <a:ext cx="8596668" cy="4998625"/>
          </a:xfrm>
        </p:spPr>
        <p:txBody>
          <a:bodyPr/>
          <a:lstStyle/>
          <a:p>
            <a:r>
              <a:rPr lang="ru-RU" sz="2500" dirty="0" smtClean="0"/>
              <a:t>Содержит файлы с расширением </a:t>
            </a:r>
            <a:r>
              <a:rPr lang="en-US" sz="2500" dirty="0" smtClean="0"/>
              <a:t>.csv</a:t>
            </a:r>
            <a:r>
              <a:rPr lang="ru-RU" sz="2500" dirty="0" smtClean="0"/>
              <a:t>, которые по своему содержанию делятся на 2 типа.</a:t>
            </a:r>
          </a:p>
          <a:p>
            <a:pPr>
              <a:buFont typeface="+mj-lt"/>
              <a:buAutoNum type="arabicPeriod"/>
            </a:pPr>
            <a:r>
              <a:rPr lang="ru-RU" sz="2400" dirty="0" smtClean="0"/>
              <a:t>Файлы с 01-22-2020 </a:t>
            </a:r>
            <a:r>
              <a:rPr lang="ru-RU" sz="2400" dirty="0"/>
              <a:t>по </a:t>
            </a:r>
            <a:r>
              <a:rPr lang="ru-RU" sz="2400" dirty="0" smtClean="0"/>
              <a:t>03-22-2020</a:t>
            </a:r>
          </a:p>
          <a:p>
            <a:pPr marL="457200" lvl="1" indent="0">
              <a:buNone/>
            </a:pPr>
            <a:r>
              <a:rPr lang="ru-RU" sz="1800" dirty="0" smtClean="0"/>
              <a:t>Данные представлены в формате «</a:t>
            </a:r>
            <a:r>
              <a:rPr lang="de-DE" sz="1800" dirty="0" err="1" smtClean="0"/>
              <a:t>Province</a:t>
            </a:r>
            <a:r>
              <a:rPr lang="de-DE" sz="1800" dirty="0" smtClean="0"/>
              <a:t>/State,</a:t>
            </a:r>
            <a:r>
              <a:rPr lang="ru-RU" sz="1800" dirty="0" smtClean="0"/>
              <a:t> </a:t>
            </a:r>
            <a:r>
              <a:rPr lang="de-DE" sz="1800" dirty="0" smtClean="0"/>
              <a:t>Country/Region,</a:t>
            </a:r>
            <a:r>
              <a:rPr lang="ru-RU" sz="1800" dirty="0" smtClean="0"/>
              <a:t> </a:t>
            </a:r>
            <a:r>
              <a:rPr lang="de-DE" sz="1800" dirty="0" smtClean="0"/>
              <a:t>Last </a:t>
            </a:r>
            <a:r>
              <a:rPr lang="de-DE" sz="1800" dirty="0"/>
              <a:t>Update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Confirmed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Deaths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Recovered</a:t>
            </a:r>
            <a:r>
              <a:rPr lang="ru-RU" sz="1800" dirty="0" smtClean="0"/>
              <a:t>»</a:t>
            </a:r>
          </a:p>
          <a:p>
            <a:pPr>
              <a:buFont typeface="+mj-lt"/>
              <a:buAutoNum type="arabicPeriod"/>
            </a:pPr>
            <a:r>
              <a:rPr lang="ru-RU" sz="2400" dirty="0" smtClean="0"/>
              <a:t>Файлы </a:t>
            </a:r>
            <a:r>
              <a:rPr lang="ru-RU" sz="2400" dirty="0"/>
              <a:t>с </a:t>
            </a:r>
            <a:r>
              <a:rPr lang="ru-RU" sz="2400" dirty="0" smtClean="0"/>
              <a:t>03-23-2020</a:t>
            </a:r>
          </a:p>
          <a:p>
            <a:pPr marL="457200" lvl="1" indent="0">
              <a:buNone/>
            </a:pPr>
            <a:r>
              <a:rPr lang="ru-RU" sz="1800" dirty="0" smtClean="0"/>
              <a:t>Данные представлены в формате «</a:t>
            </a:r>
            <a:r>
              <a:rPr lang="de-DE" sz="1800" dirty="0"/>
              <a:t>FIPS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smtClean="0"/>
              <a:t>Admin2,</a:t>
            </a:r>
            <a:r>
              <a:rPr lang="ru-RU" sz="1800" dirty="0" smtClean="0"/>
              <a:t> </a:t>
            </a:r>
            <a:r>
              <a:rPr lang="de-DE" sz="1800" dirty="0" err="1" smtClean="0"/>
              <a:t>Province_State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Country_Region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Last_Update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Lat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smtClean="0"/>
              <a:t>Long_,</a:t>
            </a:r>
            <a:r>
              <a:rPr lang="ru-RU" sz="1800" dirty="0" smtClean="0"/>
              <a:t> </a:t>
            </a:r>
            <a:r>
              <a:rPr lang="de-DE" sz="1800" dirty="0" err="1" smtClean="0"/>
              <a:t>Confirmed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Deaths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Recovered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Active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Combined_Key</a:t>
            </a:r>
            <a:r>
              <a:rPr lang="ru-RU" sz="1800" dirty="0" smtClean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0959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08547"/>
            <a:ext cx="8596668" cy="882316"/>
          </a:xfrm>
        </p:spPr>
        <p:txBody>
          <a:bodyPr/>
          <a:lstStyle/>
          <a:p>
            <a:r>
              <a:rPr lang="ru-RU" dirty="0" smtClean="0"/>
              <a:t>1 тип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90863"/>
            <a:ext cx="9076266" cy="4950499"/>
          </a:xfrm>
        </p:spPr>
        <p:txBody>
          <a:bodyPr>
            <a:normAutofit/>
          </a:bodyPr>
          <a:lstStyle/>
          <a:p>
            <a:r>
              <a:rPr lang="ru-RU" sz="2000" dirty="0"/>
              <a:t>Формат </a:t>
            </a:r>
            <a:r>
              <a:rPr lang="ru-RU" sz="2000" dirty="0" smtClean="0"/>
              <a:t>«</a:t>
            </a:r>
            <a:r>
              <a:rPr lang="de-DE" sz="2000" dirty="0" err="1"/>
              <a:t>Province</a:t>
            </a:r>
            <a:r>
              <a:rPr lang="de-DE" sz="2000" dirty="0"/>
              <a:t>/State</a:t>
            </a:r>
            <a:r>
              <a:rPr lang="de-DE" sz="2000" dirty="0" smtClean="0"/>
              <a:t>,</a:t>
            </a:r>
            <a:r>
              <a:rPr lang="ru-RU" sz="2000" dirty="0" smtClean="0"/>
              <a:t> </a:t>
            </a:r>
            <a:r>
              <a:rPr lang="de-DE" sz="2000" dirty="0" smtClean="0"/>
              <a:t>Country/Region,</a:t>
            </a:r>
            <a:r>
              <a:rPr lang="ru-RU" sz="2000" dirty="0" smtClean="0"/>
              <a:t> </a:t>
            </a:r>
            <a:r>
              <a:rPr lang="de-DE" sz="2000" dirty="0" smtClean="0"/>
              <a:t>Last Update,</a:t>
            </a:r>
            <a:r>
              <a:rPr lang="ru-RU" sz="2000" dirty="0" smtClean="0"/>
              <a:t> </a:t>
            </a:r>
            <a:r>
              <a:rPr lang="de-DE" sz="2000" dirty="0" err="1" smtClean="0"/>
              <a:t>Confirmed</a:t>
            </a:r>
            <a:r>
              <a:rPr lang="de-DE" sz="2000" dirty="0" smtClean="0"/>
              <a:t>,</a:t>
            </a:r>
            <a:r>
              <a:rPr lang="ru-RU" sz="2000" dirty="0" smtClean="0"/>
              <a:t> </a:t>
            </a:r>
            <a:r>
              <a:rPr lang="de-DE" sz="2000" dirty="0" err="1" smtClean="0"/>
              <a:t>Deaths</a:t>
            </a:r>
            <a:r>
              <a:rPr lang="de-DE" sz="2000" dirty="0" smtClean="0"/>
              <a:t>,</a:t>
            </a:r>
            <a:r>
              <a:rPr lang="ru-RU" sz="2000" dirty="0" smtClean="0"/>
              <a:t> </a:t>
            </a:r>
            <a:r>
              <a:rPr lang="de-DE" sz="2000" dirty="0" err="1" smtClean="0"/>
              <a:t>Recovered</a:t>
            </a:r>
            <a:r>
              <a:rPr lang="ru-RU" sz="2000" dirty="0" smtClean="0"/>
              <a:t>»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Province</a:t>
            </a:r>
            <a:r>
              <a:rPr lang="ru-RU" sz="2000" dirty="0"/>
              <a:t>/</a:t>
            </a:r>
            <a:r>
              <a:rPr lang="en-US" sz="2000" dirty="0" smtClean="0"/>
              <a:t>State</a:t>
            </a:r>
            <a:r>
              <a:rPr lang="ru-RU" sz="2000" dirty="0" smtClean="0"/>
              <a:t> </a:t>
            </a:r>
            <a:r>
              <a:rPr lang="ru-RU" sz="2000" dirty="0"/>
              <a:t>– провинция, штат.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Country</a:t>
            </a:r>
            <a:r>
              <a:rPr lang="ru-RU" sz="2000" dirty="0" smtClean="0"/>
              <a:t>/</a:t>
            </a:r>
            <a:r>
              <a:rPr lang="en-US" sz="2000" dirty="0" smtClean="0"/>
              <a:t>Region </a:t>
            </a:r>
            <a:r>
              <a:rPr lang="en-US" sz="2000" dirty="0"/>
              <a:t>–</a:t>
            </a:r>
            <a:r>
              <a:rPr lang="ru-RU" sz="2000" dirty="0"/>
              <a:t> страна, регион.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Last</a:t>
            </a:r>
            <a:r>
              <a:rPr lang="ru-RU" sz="2000" dirty="0" smtClean="0"/>
              <a:t> </a:t>
            </a:r>
            <a:r>
              <a:rPr lang="en-US" sz="2000" dirty="0" smtClean="0"/>
              <a:t>Update </a:t>
            </a:r>
            <a:r>
              <a:rPr lang="en-US" sz="2000" dirty="0"/>
              <a:t>– </a:t>
            </a:r>
            <a:r>
              <a:rPr lang="ru-RU" sz="2000" dirty="0"/>
              <a:t>последнее обновление информации в формате </a:t>
            </a:r>
            <a:r>
              <a:rPr lang="en-US" sz="2000" dirty="0"/>
              <a:t>MM/DD/YYYY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Confirmed</a:t>
            </a:r>
            <a:r>
              <a:rPr lang="ru-RU" sz="2000" dirty="0" smtClean="0"/>
              <a:t> </a:t>
            </a:r>
            <a:r>
              <a:rPr lang="ru-RU" sz="2000" dirty="0"/>
              <a:t>– подтвержденные случаи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Deaths</a:t>
            </a:r>
            <a:r>
              <a:rPr lang="ru-RU" sz="2000" dirty="0"/>
              <a:t> – общее кол-во смертей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Recovered</a:t>
            </a:r>
            <a:r>
              <a:rPr lang="ru-RU" sz="2000" dirty="0"/>
              <a:t> – излеченные </a:t>
            </a:r>
            <a:r>
              <a:rPr lang="ru-RU" sz="2000" dirty="0" smtClean="0"/>
              <a:t>случаи</a:t>
            </a:r>
          </a:p>
        </p:txBody>
      </p:sp>
    </p:spTree>
    <p:extLst>
      <p:ext uri="{BB962C8B-B14F-4D97-AF65-F5344CB8AC3E}">
        <p14:creationId xmlns:p14="http://schemas.microsoft.com/office/powerpoint/2010/main" val="261017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24589"/>
            <a:ext cx="8596668" cy="1320800"/>
          </a:xfrm>
        </p:spPr>
        <p:txBody>
          <a:bodyPr/>
          <a:lstStyle/>
          <a:p>
            <a:r>
              <a:rPr lang="ru-RU" dirty="0" smtClean="0"/>
              <a:t>2 тип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26695"/>
            <a:ext cx="8596668" cy="5014667"/>
          </a:xfrm>
        </p:spPr>
        <p:txBody>
          <a:bodyPr>
            <a:normAutofit/>
          </a:bodyPr>
          <a:lstStyle/>
          <a:p>
            <a:r>
              <a:rPr lang="ru-RU" dirty="0" smtClean="0"/>
              <a:t>Формат «</a:t>
            </a:r>
            <a:r>
              <a:rPr lang="de-DE" dirty="0" smtClean="0"/>
              <a:t>FIPS,</a:t>
            </a:r>
            <a:r>
              <a:rPr lang="ru-RU" dirty="0" smtClean="0"/>
              <a:t> </a:t>
            </a:r>
            <a:r>
              <a:rPr lang="de-DE" dirty="0" smtClean="0"/>
              <a:t>Admin2,</a:t>
            </a:r>
            <a:r>
              <a:rPr lang="ru-RU" dirty="0" smtClean="0"/>
              <a:t> </a:t>
            </a:r>
            <a:r>
              <a:rPr lang="de-DE" dirty="0" err="1" smtClean="0"/>
              <a:t>Province_State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Country_Region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Last_Update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Lat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smtClean="0"/>
              <a:t>Long_,</a:t>
            </a:r>
            <a:r>
              <a:rPr lang="ru-RU" dirty="0" smtClean="0"/>
              <a:t> </a:t>
            </a:r>
            <a:r>
              <a:rPr lang="de-DE" dirty="0" err="1" smtClean="0"/>
              <a:t>Confirmed,Deaths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Recovered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Active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Combined_Key</a:t>
            </a:r>
            <a:r>
              <a:rPr lang="ru-RU" dirty="0" smtClean="0"/>
              <a:t>»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FIPS – </a:t>
            </a:r>
            <a:r>
              <a:rPr lang="ru-RU" dirty="0" smtClean="0"/>
              <a:t>только для США. Код, который однозначно определяет округ в США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Admin2 – </a:t>
            </a:r>
            <a:r>
              <a:rPr lang="ru-RU" dirty="0" smtClean="0"/>
              <a:t>только для США. Название округа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Province_State</a:t>
            </a:r>
            <a:r>
              <a:rPr lang="ru-RU" dirty="0" smtClean="0"/>
              <a:t> – провинция, штат.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Country_Region</a:t>
            </a:r>
            <a:r>
              <a:rPr lang="en-US" dirty="0" smtClean="0"/>
              <a:t> –</a:t>
            </a:r>
            <a:r>
              <a:rPr lang="ru-RU" dirty="0" smtClean="0"/>
              <a:t> страна, регион.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Last_Update</a:t>
            </a:r>
            <a:r>
              <a:rPr lang="en-US" dirty="0" smtClean="0"/>
              <a:t> – </a:t>
            </a:r>
            <a:r>
              <a:rPr lang="ru-RU" dirty="0" smtClean="0"/>
              <a:t>последнее обновление информации в формате </a:t>
            </a:r>
            <a:r>
              <a:rPr lang="en-US" dirty="0" smtClean="0"/>
              <a:t>MM/DD/YYYY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Lat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smtClean="0"/>
              <a:t>Long – </a:t>
            </a:r>
            <a:r>
              <a:rPr lang="ru-RU" dirty="0" smtClean="0"/>
              <a:t>точки на приборной панели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Confirmed</a:t>
            </a:r>
            <a:r>
              <a:rPr lang="ru-RU" dirty="0" smtClean="0"/>
              <a:t> – подтвержденные случаи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Deaths</a:t>
            </a:r>
            <a:r>
              <a:rPr lang="ru-RU" dirty="0" smtClean="0"/>
              <a:t> – общее кол-во смертей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Recovered</a:t>
            </a:r>
            <a:r>
              <a:rPr lang="ru-RU" dirty="0" smtClean="0"/>
              <a:t> – излеченные случаи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Active</a:t>
            </a:r>
            <a:r>
              <a:rPr lang="ru-RU" dirty="0" smtClean="0"/>
              <a:t> – активные случаи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327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4379"/>
            <a:ext cx="8596668" cy="1320800"/>
          </a:xfrm>
        </p:spPr>
        <p:txBody>
          <a:bodyPr/>
          <a:lstStyle/>
          <a:p>
            <a:r>
              <a:rPr lang="ru-RU" dirty="0" smtClean="0"/>
              <a:t>Директория </a:t>
            </a:r>
            <a:r>
              <a:rPr lang="en-US" dirty="0" smtClean="0"/>
              <a:t>PROGRAM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26695"/>
            <a:ext cx="8596668" cy="5014667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Содержит 2 исполняемых файла и</a:t>
            </a:r>
            <a:r>
              <a:rPr lang="en-US" sz="2400" dirty="0" smtClean="0"/>
              <a:t> .</a:t>
            </a:r>
            <a:r>
              <a:rPr lang="en-US" sz="2400" dirty="0" err="1" smtClean="0"/>
              <a:t>mk</a:t>
            </a:r>
            <a:r>
              <a:rPr lang="en-US" sz="2400" dirty="0" smtClean="0"/>
              <a:t> </a:t>
            </a:r>
            <a:r>
              <a:rPr lang="ru-RU" sz="2400" dirty="0" smtClean="0"/>
              <a:t>файл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2028362"/>
            <a:ext cx="8596669" cy="100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6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28337"/>
            <a:ext cx="8596668" cy="1320800"/>
          </a:xfrm>
        </p:spPr>
        <p:txBody>
          <a:bodyPr/>
          <a:lstStyle/>
          <a:p>
            <a:r>
              <a:rPr lang="ru-RU" dirty="0" smtClean="0"/>
              <a:t>Исполняемый файл </a:t>
            </a:r>
            <a:r>
              <a:rPr lang="en-US" dirty="0" smtClean="0"/>
              <a:t>beta.exe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994611"/>
            <a:ext cx="8596668" cy="5046751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Является ключевой частью.</a:t>
            </a:r>
          </a:p>
          <a:p>
            <a:r>
              <a:rPr lang="ru-RU" sz="2400" dirty="0" smtClean="0"/>
              <a:t>Исполняемый файл получает данные в определённом формате в виде параметров командной строки.</a:t>
            </a:r>
          </a:p>
          <a:p>
            <a:r>
              <a:rPr lang="ru-RU" sz="2400" dirty="0" smtClean="0"/>
              <a:t>В ходе работы выполняется расчёт </a:t>
            </a:r>
            <a:r>
              <a:rPr lang="en-US" sz="2400" dirty="0" smtClean="0"/>
              <a:t>SIR- </a:t>
            </a:r>
            <a:r>
              <a:rPr lang="ru-RU" sz="2400" dirty="0" smtClean="0"/>
              <a:t>и </a:t>
            </a:r>
            <a:r>
              <a:rPr lang="en-US" sz="2400" dirty="0" smtClean="0"/>
              <a:t>SEIR-</a:t>
            </a:r>
            <a:r>
              <a:rPr lang="ru-RU" sz="2400" dirty="0" smtClean="0"/>
              <a:t>моделей</a:t>
            </a:r>
            <a:r>
              <a:rPr lang="en-US" sz="2400" dirty="0" smtClean="0"/>
              <a:t>.</a:t>
            </a:r>
          </a:p>
          <a:p>
            <a:r>
              <a:rPr lang="ru-RU" sz="2400" dirty="0" smtClean="0"/>
              <a:t>Результаты моделей выводятся в директорию </a:t>
            </a:r>
            <a:r>
              <a:rPr lang="en-US" sz="2400" dirty="0" smtClean="0"/>
              <a:t>MODEL</a:t>
            </a:r>
            <a:r>
              <a:rPr lang="ru-RU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142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76463"/>
            <a:ext cx="8596668" cy="1320800"/>
          </a:xfrm>
        </p:spPr>
        <p:txBody>
          <a:bodyPr/>
          <a:lstStyle/>
          <a:p>
            <a:r>
              <a:rPr lang="ru-RU" dirty="0" smtClean="0"/>
              <a:t>Исполняемый файл </a:t>
            </a:r>
            <a:r>
              <a:rPr lang="en-US" dirty="0" smtClean="0"/>
              <a:t>auto.exe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171075"/>
            <a:ext cx="8596668" cy="487028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Основная задача данного исполняемого файла: автоматизация процесса моделирования.</a:t>
            </a:r>
          </a:p>
          <a:p>
            <a:r>
              <a:rPr lang="ru-RU" sz="2400" dirty="0" smtClean="0"/>
              <a:t>При исполнении происходит прохождение по строкам файла </a:t>
            </a:r>
            <a:r>
              <a:rPr lang="en-US" sz="2400" dirty="0" smtClean="0"/>
              <a:t>auto.mk</a:t>
            </a:r>
            <a:r>
              <a:rPr lang="ru-RU" sz="2400" dirty="0" smtClean="0"/>
              <a:t> и вызов для каждой строки </a:t>
            </a:r>
            <a:r>
              <a:rPr lang="en-US" sz="2400" dirty="0" smtClean="0"/>
              <a:t>beta.exe</a:t>
            </a:r>
            <a:r>
              <a:rPr lang="ru-RU" sz="2400" dirty="0" smtClean="0"/>
              <a:t>, где содержание строки является консольными параметрами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67512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90905"/>
            <a:ext cx="8596668" cy="1320800"/>
          </a:xfrm>
        </p:spPr>
        <p:txBody>
          <a:bodyPr/>
          <a:lstStyle/>
          <a:p>
            <a:r>
              <a:rPr lang="ru-RU" dirty="0" smtClean="0"/>
              <a:t>Файл </a:t>
            </a:r>
            <a:r>
              <a:rPr lang="en-US" dirty="0" smtClean="0"/>
              <a:t>auto.mk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42737"/>
            <a:ext cx="8596668" cy="4998625"/>
          </a:xfrm>
        </p:spPr>
        <p:txBody>
          <a:bodyPr/>
          <a:lstStyle/>
          <a:p>
            <a:r>
              <a:rPr lang="ru-RU" dirty="0" smtClean="0"/>
              <a:t>Содержит строки  в определённом формате.</a:t>
            </a:r>
          </a:p>
          <a:p>
            <a:r>
              <a:rPr lang="ru-RU" dirty="0" smtClean="0"/>
              <a:t>Формат строк: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 smtClean="0"/>
              <a:t>Количество дней, увеличенное на 1, по которым есть данные в директории</a:t>
            </a:r>
            <a:r>
              <a:rPr lang="en-US" dirty="0" smtClean="0"/>
              <a:t> DATA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 smtClean="0"/>
              <a:t>Название страны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 smtClean="0"/>
              <a:t>Население страны на конец 2019 года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 smtClean="0"/>
              <a:t>Количество дней для прогнозирования</a:t>
            </a:r>
          </a:p>
          <a:p>
            <a:pPr indent="-285750"/>
            <a:r>
              <a:rPr lang="ru-RU" dirty="0" smtClean="0"/>
              <a:t>Таким образом строку можно понимать так: в директории </a:t>
            </a:r>
            <a:r>
              <a:rPr lang="en-US" dirty="0" smtClean="0"/>
              <a:t>DATA</a:t>
            </a:r>
            <a:r>
              <a:rPr lang="ru-RU" dirty="0" smtClean="0"/>
              <a:t> содержится 116 файлов с информацией, страна для построения модели – Либерия, население Либерии на конец 2019 года 5053947, количество дней для прогноза – 50.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63" y="5631421"/>
            <a:ext cx="6507809" cy="40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72716"/>
            <a:ext cx="8596668" cy="1320800"/>
          </a:xfrm>
        </p:spPr>
        <p:txBody>
          <a:bodyPr/>
          <a:lstStyle/>
          <a:p>
            <a:r>
              <a:rPr lang="ru-RU" dirty="0" smtClean="0"/>
              <a:t>Директория </a:t>
            </a:r>
            <a:r>
              <a:rPr lang="en-US" dirty="0" smtClean="0"/>
              <a:t>MODEL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732547"/>
            <a:ext cx="8596668" cy="4308815"/>
          </a:xfrm>
        </p:spPr>
        <p:txBody>
          <a:bodyPr/>
          <a:lstStyle/>
          <a:p>
            <a:r>
              <a:rPr lang="ru-RU" dirty="0" smtClean="0"/>
              <a:t>Содержит файлы с результатом прогнозирования с расширением </a:t>
            </a:r>
            <a:r>
              <a:rPr lang="en-US" dirty="0" smtClean="0"/>
              <a:t>.csv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49" y="2785972"/>
            <a:ext cx="7860266" cy="17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7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76463"/>
            <a:ext cx="8596668" cy="1320800"/>
          </a:xfrm>
        </p:spPr>
        <p:txBody>
          <a:bodyPr/>
          <a:lstStyle/>
          <a:p>
            <a:r>
              <a:rPr lang="ru-RU" dirty="0" smtClean="0"/>
              <a:t>Основная программа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35243"/>
            <a:ext cx="8596668" cy="480612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Главная задача программы 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000" dirty="0" smtClean="0"/>
              <a:t>формирования</a:t>
            </a:r>
            <a:r>
              <a:rPr lang="en-US" sz="2000" dirty="0" smtClean="0"/>
              <a:t> SIR-</a:t>
            </a:r>
            <a:r>
              <a:rPr lang="ru-RU" sz="2000" dirty="0" smtClean="0"/>
              <a:t>модели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000" dirty="0" smtClean="0"/>
              <a:t>Формирование </a:t>
            </a:r>
            <a:r>
              <a:rPr lang="en-US" sz="2000" dirty="0" smtClean="0"/>
              <a:t>SEIR-</a:t>
            </a:r>
            <a:r>
              <a:rPr lang="ru-RU" sz="2000" dirty="0" smtClean="0"/>
              <a:t>модели</a:t>
            </a:r>
          </a:p>
          <a:p>
            <a:r>
              <a:rPr lang="ru-RU" sz="2000" dirty="0" smtClean="0"/>
              <a:t>Побочные задачи</a:t>
            </a:r>
            <a:endParaRPr lang="ru-RU" sz="2000" dirty="0"/>
          </a:p>
          <a:p>
            <a:pPr marL="800100" lvl="1" indent="-342900">
              <a:buFont typeface="+mj-lt"/>
              <a:buAutoNum type="arabicPeriod"/>
            </a:pPr>
            <a:r>
              <a:rPr lang="ru-RU" sz="2000" dirty="0" smtClean="0"/>
              <a:t>Сбор данных из директории </a:t>
            </a:r>
            <a:r>
              <a:rPr lang="en-US" sz="2000" dirty="0" smtClean="0"/>
              <a:t>DATA</a:t>
            </a:r>
            <a:endParaRPr lang="ru-RU" sz="20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ru-RU" sz="2000" dirty="0" smtClean="0"/>
              <a:t>Выбор значения </a:t>
            </a:r>
            <a:r>
              <a:rPr lang="en-US" sz="2000" dirty="0" smtClean="0"/>
              <a:t>beta</a:t>
            </a:r>
            <a:r>
              <a:rPr lang="ru-RU" sz="2000" dirty="0" smtClean="0"/>
              <a:t> для каждой из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212291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56674"/>
            <a:ext cx="8596668" cy="1320800"/>
          </a:xfrm>
        </p:spPr>
        <p:txBody>
          <a:bodyPr/>
          <a:lstStyle/>
          <a:p>
            <a:r>
              <a:rPr lang="ru-RU" dirty="0" smtClean="0"/>
              <a:t>Сбор данных из директории </a:t>
            </a:r>
            <a:r>
              <a:rPr lang="en-US" dirty="0" smtClean="0"/>
              <a:t>DATA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67327"/>
            <a:ext cx="8596668" cy="4774036"/>
          </a:xfrm>
        </p:spPr>
        <p:txBody>
          <a:bodyPr>
            <a:normAutofit/>
          </a:bodyPr>
          <a:lstStyle/>
          <a:p>
            <a:pPr lvl="1"/>
            <a:r>
              <a:rPr lang="ru-RU" sz="2400" dirty="0" smtClean="0"/>
              <a:t>Принцип сбора данных из </a:t>
            </a:r>
            <a:r>
              <a:rPr lang="en-US" sz="2400" dirty="0" smtClean="0"/>
              <a:t>.csv</a:t>
            </a:r>
            <a:r>
              <a:rPr lang="ru-RU" sz="2400" dirty="0" smtClean="0"/>
              <a:t>-файлов: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Открыть один из файлов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Пройти по каждой строке файла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Если найдено ключевое слово (название страны), то берём данную строку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Сохраняем нужные данные из строки в векторы </a:t>
            </a:r>
            <a:r>
              <a:rPr lang="en-US" sz="2400" dirty="0" smtClean="0"/>
              <a:t>S,I,R</a:t>
            </a:r>
            <a:r>
              <a:rPr lang="de-DE" sz="2400" dirty="0" smtClean="0"/>
              <a:t> </a:t>
            </a:r>
            <a:r>
              <a:rPr lang="ru-RU" sz="2400" dirty="0" smtClean="0"/>
              <a:t>соответственно</a:t>
            </a:r>
            <a:endParaRPr lang="ru-RU" sz="2400" dirty="0"/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Закрываем открытый файл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Переходим к следующему файлу, если такой есть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1065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76463"/>
            <a:ext cx="8596668" cy="825023"/>
          </a:xfrm>
        </p:spPr>
        <p:txBody>
          <a:bodyPr/>
          <a:lstStyle/>
          <a:p>
            <a:r>
              <a:rPr lang="ru-RU" dirty="0" smtClean="0"/>
              <a:t>Выбор значений </a:t>
            </a:r>
            <a:r>
              <a:rPr lang="en-US" dirty="0" smtClean="0"/>
              <a:t>beta</a:t>
            </a:r>
            <a:r>
              <a:rPr lang="ru-RU" dirty="0" smtClean="0"/>
              <a:t> для </a:t>
            </a:r>
            <a:r>
              <a:rPr lang="en-US" dirty="0" smtClean="0"/>
              <a:t>SIR-</a:t>
            </a:r>
            <a:r>
              <a:rPr lang="ru-RU" dirty="0" smtClean="0"/>
              <a:t>модел</a:t>
            </a:r>
            <a:r>
              <a:rPr lang="ru-RU" dirty="0"/>
              <a:t>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106905"/>
                <a:ext cx="8596668" cy="4934457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 smtClean="0"/>
                  <a:t>Пользуясь принципом целочисленного дифференцирования мы получили формулу для расчёта таких значений </a:t>
                </a:r>
                <a:r>
                  <a:rPr lang="en-US" sz="2400" dirty="0" smtClean="0"/>
                  <a:t>beta</a:t>
                </a:r>
                <a:r>
                  <a:rPr lang="ru-RU" sz="2400" dirty="0" smtClean="0"/>
                  <a:t>, для которых модель и реальные показатели раздела </a:t>
                </a:r>
                <a:r>
                  <a:rPr lang="en-US" sz="2400" dirty="0" smtClean="0"/>
                  <a:t>I(</a:t>
                </a:r>
                <a:r>
                  <a:rPr lang="de-DE" sz="2400" dirty="0" err="1"/>
                  <a:t>Infectious</a:t>
                </a:r>
                <a:r>
                  <a:rPr lang="en-US" sz="2400" dirty="0" smtClean="0"/>
                  <a:t>)</a:t>
                </a:r>
                <a:r>
                  <a:rPr lang="ru-RU" sz="2400" dirty="0" smtClean="0"/>
                  <a:t> является максимально подобными. При таком принципе расчёта значений значения </a:t>
                </a:r>
                <a:r>
                  <a:rPr lang="en-US" sz="2400" dirty="0" smtClean="0"/>
                  <a:t>R(</a:t>
                </a:r>
                <a:r>
                  <a:rPr lang="de-DE" sz="2400" dirty="0" err="1"/>
                  <a:t>Recovered</a:t>
                </a:r>
                <a:r>
                  <a:rPr lang="en-US" sz="2400" dirty="0" smtClean="0"/>
                  <a:t>)</a:t>
                </a:r>
                <a:r>
                  <a:rPr lang="ru-RU" sz="2400" dirty="0" smtClean="0"/>
                  <a:t> могут сильно отклоняться от реальных показателей.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 smtClean="0"/>
              </a:p>
              <a:p>
                <a:r>
                  <a:rPr lang="ru-RU" sz="2400" dirty="0" smtClean="0"/>
                  <a:t>Остальные бета равны последнему полученному(в расчёте на то, что значения бета остаётся постоянной).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106905"/>
                <a:ext cx="8596668" cy="4934457"/>
              </a:xfrm>
              <a:blipFill rotWithShape="0">
                <a:blip r:embed="rId2"/>
                <a:stretch>
                  <a:fillRect l="-567" t="-989" r="-21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03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74171"/>
            <a:ext cx="8596668" cy="1320800"/>
          </a:xfrm>
        </p:spPr>
        <p:txBody>
          <a:bodyPr/>
          <a:lstStyle/>
          <a:p>
            <a:r>
              <a:rPr lang="ru-RU" dirty="0"/>
              <a:t>Выбор значений </a:t>
            </a:r>
            <a:r>
              <a:rPr lang="en-US" dirty="0"/>
              <a:t>beta</a:t>
            </a:r>
            <a:r>
              <a:rPr lang="ru-RU" dirty="0"/>
              <a:t> для </a:t>
            </a:r>
            <a:r>
              <a:rPr lang="en-US" dirty="0" smtClean="0"/>
              <a:t>SEIR-</a:t>
            </a:r>
            <a:r>
              <a:rPr lang="ru-RU" dirty="0"/>
              <a:t>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27611"/>
            <a:ext cx="8596668" cy="5013752"/>
          </a:xfrm>
        </p:spPr>
        <p:txBody>
          <a:bodyPr/>
          <a:lstStyle/>
          <a:p>
            <a:r>
              <a:rPr lang="ru-RU" sz="2400" dirty="0" smtClean="0"/>
              <a:t>Выбор значения </a:t>
            </a:r>
            <a:r>
              <a:rPr lang="en-US" sz="2400" dirty="0" smtClean="0"/>
              <a:t>beta</a:t>
            </a:r>
            <a:r>
              <a:rPr lang="ru-RU" sz="2400" dirty="0" smtClean="0"/>
              <a:t> для </a:t>
            </a:r>
            <a:r>
              <a:rPr lang="en-US" sz="2400" dirty="0" smtClean="0"/>
              <a:t>SEIR-</a:t>
            </a:r>
            <a:r>
              <a:rPr lang="ru-RU" sz="2400" dirty="0" smtClean="0"/>
              <a:t>модели выполняется методом подбора с шагом в 0.0001. </a:t>
            </a:r>
            <a:r>
              <a:rPr lang="en-US" sz="2400" dirty="0" smtClean="0"/>
              <a:t>Beta</a:t>
            </a:r>
            <a:r>
              <a:rPr lang="ru-RU" sz="2400" dirty="0" smtClean="0"/>
              <a:t> выбирается таким образом</a:t>
            </a:r>
          </a:p>
          <a:p>
            <a:pPr marL="0" indent="0" algn="ctr">
              <a:buNone/>
            </a:pPr>
            <a:r>
              <a:rPr lang="en-US" sz="2800" dirty="0" err="1" smtClean="0"/>
              <a:t>Im</a:t>
            </a:r>
            <a:r>
              <a:rPr lang="en-US" sz="2800" dirty="0" smtClean="0"/>
              <a:t> + </a:t>
            </a:r>
            <a:r>
              <a:rPr lang="en-US" sz="2800" dirty="0" err="1" smtClean="0"/>
              <a:t>Em</a:t>
            </a:r>
            <a:r>
              <a:rPr lang="en-US" sz="2800" dirty="0" smtClean="0"/>
              <a:t> ≈ I, </a:t>
            </a:r>
            <a:endParaRPr lang="ru-RU" sz="2800" dirty="0"/>
          </a:p>
          <a:p>
            <a:pPr marL="0" indent="0">
              <a:buNone/>
            </a:pPr>
            <a:r>
              <a:rPr lang="ru-RU" sz="2800" dirty="0" smtClean="0"/>
              <a:t>	</a:t>
            </a:r>
            <a:r>
              <a:rPr lang="ru-RU" sz="2400" dirty="0" smtClean="0"/>
              <a:t>где </a:t>
            </a:r>
            <a:r>
              <a:rPr lang="en-US" sz="2400" dirty="0" err="1" smtClean="0"/>
              <a:t>Im</a:t>
            </a:r>
            <a:r>
              <a:rPr lang="en-US" sz="2400" dirty="0" smtClean="0"/>
              <a:t>,</a:t>
            </a:r>
            <a:r>
              <a:rPr lang="ru-RU" sz="2400" dirty="0" smtClean="0"/>
              <a:t> </a:t>
            </a:r>
            <a:r>
              <a:rPr lang="en-US" sz="2400" dirty="0" err="1" smtClean="0"/>
              <a:t>Em</a:t>
            </a:r>
            <a:r>
              <a:rPr lang="en-US" sz="2400" dirty="0" smtClean="0"/>
              <a:t> –</a:t>
            </a:r>
            <a:r>
              <a:rPr lang="ru-RU" sz="2400" dirty="0" smtClean="0"/>
              <a:t> показатели модели.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5726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30629"/>
            <a:ext cx="8596668" cy="853440"/>
          </a:xfrm>
        </p:spPr>
        <p:txBody>
          <a:bodyPr/>
          <a:lstStyle/>
          <a:p>
            <a:r>
              <a:rPr lang="ru-RU" dirty="0" smtClean="0"/>
              <a:t>Расчёт </a:t>
            </a:r>
            <a:r>
              <a:rPr lang="en-US" dirty="0" smtClean="0"/>
              <a:t>SIR-</a:t>
            </a:r>
            <a:r>
              <a:rPr lang="ru-RU" dirty="0" smtClean="0"/>
              <a:t>модели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088571"/>
                <a:ext cx="8596668" cy="4952791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 smtClean="0"/>
                  <a:t>Расчёт модели производится по формулам, полученным с помощью метода численного дифференцирования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088571"/>
                <a:ext cx="8596668" cy="4952791"/>
              </a:xfrm>
              <a:blipFill rotWithShape="0">
                <a:blip r:embed="rId2"/>
                <a:stretch>
                  <a:fillRect l="-567" t="-985" r="-19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55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30628"/>
            <a:ext cx="8596668" cy="1320800"/>
          </a:xfrm>
        </p:spPr>
        <p:txBody>
          <a:bodyPr/>
          <a:lstStyle/>
          <a:p>
            <a:r>
              <a:rPr lang="ru-RU" dirty="0"/>
              <a:t>Расчёт </a:t>
            </a:r>
            <a:r>
              <a:rPr lang="en-US" dirty="0" smtClean="0"/>
              <a:t>S</a:t>
            </a:r>
            <a:r>
              <a:rPr lang="en-US" dirty="0"/>
              <a:t>E</a:t>
            </a:r>
            <a:r>
              <a:rPr lang="en-US" dirty="0" smtClean="0"/>
              <a:t>IR-</a:t>
            </a:r>
            <a:r>
              <a:rPr lang="ru-RU" dirty="0"/>
              <a:t>модели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036321"/>
                <a:ext cx="8596668" cy="5005042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 smtClean="0"/>
                  <a:t>Расчёт модели производится по формулам, полученным с помощью метода численного дифференцирования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	</a:t>
                </a:r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ru-RU" sz="2400" dirty="0" smtClean="0"/>
                  <a:t>где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en-US" sz="2400" dirty="0" smtClean="0"/>
                  <a:t>= 1/T, </a:t>
                </a:r>
                <a:r>
                  <a:rPr lang="ru-RU" sz="2400" dirty="0" smtClean="0"/>
                  <a:t>где Т – время инкубационного периода</a:t>
                </a:r>
                <a:r>
                  <a:rPr lang="en-US" sz="2400" dirty="0" smtClean="0"/>
                  <a:t>;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400" dirty="0" smtClean="0"/>
                  <a:t> –</a:t>
                </a:r>
                <a:r>
                  <a:rPr lang="ru-RU" sz="2400" dirty="0" smtClean="0"/>
                  <a:t> 	коэффициент интенсивности выздоровления 	инфицированных индивидов</a:t>
                </a:r>
                <a:endParaRPr lang="ru-RU" sz="24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036321"/>
                <a:ext cx="8596668" cy="5005042"/>
              </a:xfrm>
              <a:blipFill rotWithShape="0">
                <a:blip r:embed="rId2"/>
                <a:stretch>
                  <a:fillRect l="-567" t="-974" r="-19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70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1427</TotalTime>
  <Words>765</Words>
  <Application>Microsoft Office PowerPoint</Application>
  <PresentationFormat>Широкоэкранный</PresentationFormat>
  <Paragraphs>127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Cambria Math</vt:lpstr>
      <vt:lpstr>Trebuchet MS</vt:lpstr>
      <vt:lpstr>Wingdings 3</vt:lpstr>
      <vt:lpstr>Грань</vt:lpstr>
      <vt:lpstr>Математическая модель эпидемии коронавируса </vt:lpstr>
      <vt:lpstr>Основные цели работы</vt:lpstr>
      <vt:lpstr>Разделение обязанностей</vt:lpstr>
      <vt:lpstr>Аналитическая часть работы</vt:lpstr>
      <vt:lpstr>Математическая часть работы</vt:lpstr>
      <vt:lpstr>Тестирование программного обеспечения работы</vt:lpstr>
      <vt:lpstr>Организация процесса работы</vt:lpstr>
      <vt:lpstr>Программная часть работы</vt:lpstr>
      <vt:lpstr>Программная область работы</vt:lpstr>
      <vt:lpstr>Директория DATA</vt:lpstr>
      <vt:lpstr>1 тип файлов</vt:lpstr>
      <vt:lpstr>2 тип файлов</vt:lpstr>
      <vt:lpstr>Директория PROGRAM</vt:lpstr>
      <vt:lpstr>Исполняемый файл beta.exe</vt:lpstr>
      <vt:lpstr>Исполняемый файл auto.exe</vt:lpstr>
      <vt:lpstr>Файл auto.mk</vt:lpstr>
      <vt:lpstr>Директория MODEL</vt:lpstr>
      <vt:lpstr>Основная программа</vt:lpstr>
      <vt:lpstr>Сбор данных из директории DATA</vt:lpstr>
      <vt:lpstr>Выбор значений beta для SIR-модели</vt:lpstr>
      <vt:lpstr>Выбор значений beta для SEIR-модели</vt:lpstr>
      <vt:lpstr>Расчёт SIR-модели</vt:lpstr>
      <vt:lpstr>Расчёт SEIR-модели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Математическая модель эпидемии коронавируса </dc:title>
  <dc:creator>Саша Саша</dc:creator>
  <cp:lastModifiedBy>Саша Саша</cp:lastModifiedBy>
  <cp:revision>35</cp:revision>
  <dcterms:created xsi:type="dcterms:W3CDTF">2020-05-17T19:30:11Z</dcterms:created>
  <dcterms:modified xsi:type="dcterms:W3CDTF">2020-05-18T19:17:16Z</dcterms:modified>
</cp:coreProperties>
</file>